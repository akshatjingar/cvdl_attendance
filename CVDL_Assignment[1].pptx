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338" r:id="rId2"/>
    <p:sldId id="257" r:id="rId3"/>
    <p:sldId id="260" r:id="rId4"/>
    <p:sldId id="368" r:id="rId5"/>
    <p:sldId id="372" r:id="rId6"/>
    <p:sldId id="378" r:id="rId7"/>
    <p:sldId id="377" r:id="rId8"/>
    <p:sldId id="379" r:id="rId9"/>
    <p:sldId id="380" r:id="rId10"/>
    <p:sldId id="269" r:id="rId11"/>
    <p:sldId id="374" r:id="rId12"/>
    <p:sldId id="371" r:id="rId13"/>
    <p:sldId id="370" r:id="rId14"/>
    <p:sldId id="375" r:id="rId15"/>
    <p:sldId id="373" r:id="rId16"/>
    <p:sldId id="382" r:id="rId17"/>
    <p:sldId id="383" r:id="rId18"/>
    <p:sldId id="277" r:id="rId19"/>
    <p:sldId id="376" r:id="rId20"/>
    <p:sldId id="381" r:id="rId21"/>
    <p:sldId id="29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A2C"/>
    <a:srgbClr val="14B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B47F1-A750-41DC-957F-28D9012D7D22}" v="2" dt="2022-09-27T07:34:36.988"/>
    <p1510:client id="{0A6934D1-6F3B-4A11-B2D2-EEB3E90737AF}" v="245" dt="2022-10-18T05:18:24.368"/>
    <p1510:client id="{136FD27E-62EA-4FB7-8E34-80D10EC84300}" v="3" dt="2022-10-18T03:03:48.339"/>
    <p1510:client id="{1E732509-BD1A-4E89-8853-C5ADBAE82A54}" v="358" dt="2022-09-06T06:51:33.099"/>
    <p1510:client id="{3BFFC3FA-3F4B-4217-BBF1-1DFBF0BA79D2}" v="431" dt="2022-10-16T17:01:10.867"/>
    <p1510:client id="{42923CA8-C717-4C52-9370-C12265E95A28}" v="98" dt="2022-10-08T09:53:17.501"/>
    <p1510:client id="{4879DE12-8849-4EDB-A5C4-51758F7AF11C}" v="84" dt="2022-10-18T03:23:00.101"/>
    <p1510:client id="{57E6291C-35C0-4813-80F8-AC1AC94C3D55}" v="8" dt="2022-10-06T09:42:09.718"/>
    <p1510:client id="{58FBE44E-6308-46AD-8DED-774E2095F7FB}" v="135" dt="2022-10-13T08:26:26.256"/>
    <p1510:client id="{75A37DC4-A461-437C-8446-074C7FABE91F}" v="48" dt="2022-10-17T13:59:53.293"/>
    <p1510:client id="{7D6F31C3-E593-4F12-B6BE-AA435D968727}" v="340" dt="2022-10-06T08:11:50.015"/>
    <p1510:client id="{964270F6-B003-48E7-BB53-EDB4453367C8}" v="268" dt="2022-10-17T13:29:29.115"/>
    <p1510:client id="{C0903338-ED34-4947-9927-E92131FA8A83}" v="239" dt="2022-10-18T04:18:24.375"/>
    <p1510:client id="{C0F4B067-CB29-424A-8294-08EBF55D792F}" v="498" dt="2022-10-18T16:30:05.376"/>
    <p1510:client id="{C89607D9-1E75-48BA-809B-7CEF127ABACA}" v="1" dt="2022-10-18T17:08:51.863"/>
    <p1510:client id="{E592FD0A-4A40-4D9C-81DD-DFE6BA9CAC1C}" v="190" dt="2022-10-13T10:35:53.968"/>
    <p1510:client id="{F181D2CE-12F3-4A51-8FF8-3CFFF8209350}" v="10" dt="2022-09-27T07:14:57.550"/>
    <p1510:client id="{F36E38D5-A2F9-4647-AF27-A43611459EB6}" v="11" dt="2022-10-18T13:40:59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4660"/>
  </p:normalViewPr>
  <p:slideViewPr>
    <p:cSldViewPr snapToGrid="0">
      <p:cViewPr>
        <p:scale>
          <a:sx n="77" d="100"/>
          <a:sy n="77" d="100"/>
        </p:scale>
        <p:origin x="7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C3A9B-88F6-4AE8-BF4C-C5075010FA9A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03055-C098-472F-A07B-F6D88C728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4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03055-C098-472F-A07B-F6D88C72845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4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A3A5-CC0A-001C-C1C9-B2A86502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FCBF2-4F73-B854-8770-06CD8691C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5A3A2-C26E-B4F9-5F18-F371B11D9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72E81-73DE-900E-0727-BA5423AA2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03055-C098-472F-A07B-F6D88C72845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9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DCE8E9-FDC0-D998-CABF-B4703B9DE66D}"/>
              </a:ext>
            </a:extLst>
          </p:cNvPr>
          <p:cNvSpPr/>
          <p:nvPr/>
        </p:nvSpPr>
        <p:spPr>
          <a:xfrm>
            <a:off x="452967" y="4104217"/>
            <a:ext cx="11281832" cy="2285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B0496-F8FF-E372-56C7-0FD78BCC4D27}"/>
              </a:ext>
            </a:extLst>
          </p:cNvPr>
          <p:cNvSpPr txBox="1"/>
          <p:nvPr/>
        </p:nvSpPr>
        <p:spPr>
          <a:xfrm>
            <a:off x="905906" y="1660027"/>
            <a:ext cx="1037595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Automatic </a:t>
            </a:r>
            <a:r>
              <a:rPr lang="en-US" sz="5400" b="1" dirty="0" err="1">
                <a:solidFill>
                  <a:schemeClr val="accent1"/>
                </a:solidFill>
              </a:rPr>
              <a:t>Attendence</a:t>
            </a:r>
            <a:r>
              <a:rPr lang="en-US" sz="5400" b="1" dirty="0">
                <a:solidFill>
                  <a:schemeClr val="accent1"/>
                </a:solidFill>
              </a:rPr>
              <a:t>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4C68B-C41B-3ED6-F9E3-2BCE7B4ADE00}"/>
              </a:ext>
            </a:extLst>
          </p:cNvPr>
          <p:cNvSpPr txBox="1"/>
          <p:nvPr/>
        </p:nvSpPr>
        <p:spPr>
          <a:xfrm>
            <a:off x="7095972" y="4503964"/>
            <a:ext cx="4564062" cy="1880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Prepared By </a:t>
            </a:r>
          </a:p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23BCE515 – Harshil </a:t>
            </a:r>
            <a:r>
              <a:rPr lang="en-US" sz="2000" dirty="0" err="1">
                <a:solidFill>
                  <a:schemeClr val="bg1"/>
                </a:solidFill>
              </a:rPr>
              <a:t>Jetani</a:t>
            </a:r>
            <a:endParaRPr lang="en-US" sz="2000" dirty="0"/>
          </a:p>
          <a:p>
            <a:pPr algn="r"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</a:rPr>
              <a:t>23BCE517 - Akshat Jingar</a:t>
            </a:r>
          </a:p>
          <a:p>
            <a:pPr algn="r">
              <a:spcAft>
                <a:spcPts val="500"/>
              </a:spcAft>
            </a:pPr>
            <a:r>
              <a:rPr lang="en-US" sz="2000" dirty="0">
                <a:solidFill>
                  <a:schemeClr val="bg1"/>
                </a:solidFill>
              </a:rPr>
              <a:t>23BCE535 – </a:t>
            </a:r>
            <a:r>
              <a:rPr lang="en-US" sz="2000" dirty="0" err="1">
                <a:solidFill>
                  <a:schemeClr val="bg1"/>
                </a:solidFill>
              </a:rPr>
              <a:t>Keval</a:t>
            </a:r>
            <a:r>
              <a:rPr lang="en-US" sz="2000" dirty="0">
                <a:solidFill>
                  <a:schemeClr val="bg1"/>
                </a:solidFill>
              </a:rPr>
              <a:t> Shah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0DF62D-6F64-4750-6CCB-60CC7A54ECF5}"/>
              </a:ext>
            </a:extLst>
          </p:cNvPr>
          <p:cNvSpPr txBox="1"/>
          <p:nvPr/>
        </p:nvSpPr>
        <p:spPr>
          <a:xfrm>
            <a:off x="3868609" y="2492173"/>
            <a:ext cx="44505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CVDL Innovative Assignment</a:t>
            </a:r>
          </a:p>
        </p:txBody>
      </p:sp>
    </p:spTree>
    <p:extLst>
      <p:ext uri="{BB962C8B-B14F-4D97-AF65-F5344CB8AC3E}">
        <p14:creationId xmlns:p14="http://schemas.microsoft.com/office/powerpoint/2010/main" val="245956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8DD3-4A88-3E06-E24D-8F1AE7D00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650" y="1073230"/>
            <a:ext cx="6560999" cy="4711539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solidFill>
                  <a:schemeClr val="bg1"/>
                </a:solidFill>
              </a:rPr>
              <a:t>In educational institutions, maintaining attendance records accurately and efficiently is crucial for monitoring student participation.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05435" indent="-305435"/>
            <a:r>
              <a:rPr lang="en-US" dirty="0">
                <a:solidFill>
                  <a:schemeClr val="bg1"/>
                </a:solidFill>
              </a:rPr>
              <a:t>Traditional methods of roll call or card-based systems are time-consuming and prone to human error.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305435" indent="-305435"/>
            <a:r>
              <a:rPr lang="en-US" dirty="0">
                <a:solidFill>
                  <a:schemeClr val="bg1"/>
                </a:solidFill>
              </a:rPr>
              <a:t>Biometric systems, particularly facial recognition, offer an innovative solution to streamline the attendance process by capturing and recognizing faces from images or live feeds automatically.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8ED2B-607B-0F37-A7A8-9ED26EA4E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17" y="1073231"/>
            <a:ext cx="3804883" cy="4711539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26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7DAC1-C9B5-8933-AFAD-F6A36AC7D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889827"/>
            <a:ext cx="6108179" cy="5058689"/>
          </a:xfrm>
        </p:spPr>
        <p:txBody>
          <a:bodyPr anchor="ctr">
            <a:noAutofit/>
          </a:bodyPr>
          <a:lstStyle/>
          <a:p>
            <a:pPr marL="305435" indent="-305435"/>
            <a:r>
              <a:rPr lang="en-US" dirty="0"/>
              <a:t>Manual roll call or sign-in processes can take significant time, especially in large classrooms or events, reducing time available for teaching or other activities.</a:t>
            </a:r>
          </a:p>
          <a:p>
            <a:pPr marL="0" indent="0">
              <a:buNone/>
            </a:pPr>
            <a:endParaRPr lang="en-US" sz="500" dirty="0"/>
          </a:p>
          <a:p>
            <a:pPr marL="305435" indent="-305435"/>
            <a:r>
              <a:rPr lang="en-US" dirty="0"/>
              <a:t>Human error is common in manual attendance, such as missed names, incorrect entries, or miscounts, leading to inaccurate records.</a:t>
            </a:r>
          </a:p>
          <a:p>
            <a:pPr marL="0" indent="0">
              <a:buNone/>
            </a:pPr>
            <a:endParaRPr lang="en-US" sz="500" dirty="0"/>
          </a:p>
          <a:p>
            <a:pPr marL="305435" indent="-305435"/>
            <a:r>
              <a:rPr lang="en-US" dirty="0"/>
              <a:t>Traditional systems are vulnerable to proxy attendance, where students or employees can mark attendance for absent peers, undermining accuracy and accountability. </a:t>
            </a:r>
          </a:p>
          <a:p>
            <a:pPr marL="0" indent="0">
              <a:buNone/>
            </a:pPr>
            <a:endParaRPr lang="en-US" sz="500" dirty="0"/>
          </a:p>
          <a:p>
            <a:pPr marL="305435" indent="-305435"/>
            <a:r>
              <a:rPr lang="en-US" dirty="0"/>
              <a:t>Maintaining paper-based records requires physical storage, is prone to damage, and can be tedious to organize, retrieve, and analyze for long-term records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FD7CEB-33A2-35EC-F854-789EFDDBC54B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rgbClr val="FFFFFF"/>
                </a:solidFill>
              </a:rPr>
              <a:t>Problem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45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7C92D9-9D63-AD49-D450-AE4E6B1A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7">
            <a:extLst>
              <a:ext uri="{FF2B5EF4-FFF2-40B4-BE49-F238E27FC236}">
                <a16:creationId xmlns:a16="http://schemas.microsoft.com/office/drawing/2014/main" id="{0F49E2C9-DE65-62DA-A87C-DECE53AE8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5C809648-EA27-F7A6-7177-D95FBC3B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9AA293-C07E-DB1F-67F6-959D75092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0519DB-6B2B-FB12-56CA-8C80ABB03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5A6F2DD-361B-7AFD-B291-51F37175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B8C71-3B0A-4DD4-C318-AA08B15F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9" y="723897"/>
            <a:ext cx="3804883" cy="5676901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Solution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3A3518F-222C-FEC9-5B89-9EE3827AA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060" y="1033003"/>
            <a:ext cx="6108179" cy="5058689"/>
          </a:xfrm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have used a combination of MTCNN (Multi-task Cascaded Convolutional Networks) for face detection and </a:t>
            </a:r>
            <a:r>
              <a:rPr lang="en-US" dirty="0" err="1">
                <a:solidFill>
                  <a:schemeClr val="bg1"/>
                </a:solidFill>
              </a:rPr>
              <a:t>FaceNet</a:t>
            </a:r>
            <a:r>
              <a:rPr lang="en-US" dirty="0">
                <a:solidFill>
                  <a:schemeClr val="bg1"/>
                </a:solidFill>
              </a:rPr>
              <a:t> for generating face embeddings was used.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MTCNN</a:t>
            </a:r>
            <a:r>
              <a:rPr lang="en-US" dirty="0">
                <a:solidFill>
                  <a:schemeClr val="bg1"/>
                </a:solidFill>
              </a:rPr>
              <a:t> is a deep learning model that performs face detection with high accuracy, even in crowded scenes and low-resolution images.</a:t>
            </a: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FaceNet</a:t>
            </a:r>
            <a:r>
              <a:rPr lang="en-US" dirty="0">
                <a:solidFill>
                  <a:schemeClr val="bg1"/>
                </a:solidFill>
              </a:rPr>
              <a:t> is used for creating face embeddings -unique vector representations of faces - enabling accurate face comparison.</a:t>
            </a:r>
          </a:p>
        </p:txBody>
      </p:sp>
    </p:spTree>
    <p:extLst>
      <p:ext uri="{BB962C8B-B14F-4D97-AF65-F5344CB8AC3E}">
        <p14:creationId xmlns:p14="http://schemas.microsoft.com/office/powerpoint/2010/main" val="1373732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69298A-EF3C-2FC8-872C-7A35A7A5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71C3EB6D-728F-F85C-B4C1-705DB991C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6DC0CA08-CC56-B61B-020E-CD37120A7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86D6-8B2D-5B56-476C-2222401C0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r>
              <a:rPr lang="en-US" b="1" dirty="0"/>
              <a:t>MTCNN vs YOLO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MTCNN outperforms YOLO in detecting multiple faces in group photos, handling occlusions and overlapping faces better.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YOLO struggles with crowded scenes, often missing faces or detecting them incorrectly, especially when faces are close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MTCNN is more reliable in varied environments (e.g., classrooms or events) where faces may not be fully visible or evenly lit.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FaceNet</a:t>
            </a:r>
            <a:r>
              <a:rPr lang="en-US" b="1" dirty="0"/>
              <a:t> for Embedding Generation 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FaceNet</a:t>
            </a:r>
            <a:r>
              <a:rPr lang="en-US" dirty="0"/>
              <a:t> creates high-quality embeddings that remain consistent even under lighting and angle variations, making it ideal for attendance systems.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69FB51-9753-B9B9-2979-6F63C0B53DB3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rgbClr val="FFFFFF"/>
                </a:solidFill>
              </a:rPr>
              <a:t>WHY this Solution ?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05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C4E1A3-08FF-AB75-5BFF-509543B1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D17959-518F-C8FD-C5C3-EAB3FD560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Event Management</a:t>
            </a:r>
            <a:r>
              <a:rPr lang="en-US"/>
              <a:t>: Managing attendee presence in large events.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646082-4854-E55E-73C9-88F9A5DC2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5F496-8393-0241-FDCF-91CEC47E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A5430-D3B3-6642-57F1-DB826E8B8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6BB183-C105-545A-2AAF-589FC34CF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50A4-77FB-0B14-01FA-FFCB5171F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6368" y="1297552"/>
            <a:ext cx="6599582" cy="48365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MTCNN, or Multi-task Cascaded Convolutional Neural Network, is a deep learning-based architecture widely used for face detection and alignment.</a:t>
            </a:r>
          </a:p>
          <a:p>
            <a:pPr marL="0" indent="0">
              <a:buNone/>
            </a:pPr>
            <a:endParaRPr lang="en-US" sz="4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Key Components of MTCNN :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Bounding Box Regression :  </a:t>
            </a:r>
            <a:r>
              <a:rPr lang="en-US" dirty="0">
                <a:solidFill>
                  <a:schemeClr val="bg1"/>
                </a:solidFill>
              </a:rPr>
              <a:t>This component adjusts the bounding box coordinates at each stage to progressively localize faces better.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Non-Maximum Suppression (NMS) : </a:t>
            </a:r>
            <a:r>
              <a:rPr lang="en-US" dirty="0">
                <a:solidFill>
                  <a:schemeClr val="bg1"/>
                </a:solidFill>
              </a:rPr>
              <a:t>NMS is used after each network to eliminate highly overlapping bounding boxes. This reduces redundancy and improves detection precision.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Facial Landmark Prediction :  </a:t>
            </a:r>
            <a:r>
              <a:rPr lang="en-US" dirty="0">
                <a:solidFill>
                  <a:schemeClr val="bg1"/>
                </a:solidFill>
              </a:rPr>
              <a:t>In the last stage, the O-Net also outputs five key facial landmarks (two eyes, nose, and two mouth corners) to help align and recognize faces accurately.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CD47A2-5C6D-5375-B11D-2E632BF69481}"/>
              </a:ext>
            </a:extLst>
          </p:cNvPr>
          <p:cNvSpPr txBox="1">
            <a:spLocks/>
          </p:cNvSpPr>
          <p:nvPr/>
        </p:nvSpPr>
        <p:spPr>
          <a:xfrm>
            <a:off x="446534" y="1206578"/>
            <a:ext cx="3633854" cy="4711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MTCNN</a:t>
            </a: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075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68AC52-EF3B-866E-E50C-0E1594EB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E71A041B-65BE-3479-5688-4A6D631E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6D1F04C4-3754-A5A8-2DE9-9C19E39D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A897-00E6-D8B3-1FDD-EABFF165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326150" cy="5888771"/>
          </a:xfrm>
        </p:spPr>
        <p:txBody>
          <a:bodyPr anchor="ctr">
            <a:noAutofit/>
          </a:bodyPr>
          <a:lstStyle/>
          <a:p>
            <a:pPr fontAlgn="base"/>
            <a:r>
              <a:rPr lang="en-US" dirty="0"/>
              <a:t>The </a:t>
            </a:r>
            <a:r>
              <a:rPr lang="en-US" dirty="0" err="1"/>
              <a:t>FaceNet</a:t>
            </a:r>
            <a:r>
              <a:rPr lang="en-US" dirty="0"/>
              <a:t> architecture is designed to learn compact, discriminative embeddings for faces, allowing accurate facial recognition and clustering.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sz="2400" b="1" dirty="0"/>
              <a:t>Key Components of </a:t>
            </a:r>
            <a:r>
              <a:rPr lang="en-US" sz="2400" b="1" dirty="0" err="1"/>
              <a:t>FaceNet</a:t>
            </a:r>
            <a:r>
              <a:rPr lang="en-US" sz="2400" b="1" dirty="0"/>
              <a:t> :</a:t>
            </a:r>
          </a:p>
          <a:p>
            <a:pPr marL="0" indent="0" fontAlgn="base">
              <a:buNone/>
            </a:pP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Backbone Network (Inception/Inception-</a:t>
            </a:r>
            <a:r>
              <a:rPr lang="en-US" b="1" dirty="0" err="1"/>
              <a:t>ResNet</a:t>
            </a:r>
            <a:r>
              <a:rPr lang="en-US" b="1" dirty="0"/>
              <a:t>) :</a:t>
            </a:r>
            <a:r>
              <a:rPr lang="en-US" dirty="0"/>
              <a:t> This deep convolutional network extracts high-level features from face images, using multiple filters and residual connections to capture detailed facial characteristics efficiently.</a:t>
            </a:r>
          </a:p>
          <a:p>
            <a:pPr marL="0" indent="0" fontAlgn="base">
              <a:buNone/>
            </a:pPr>
            <a:endParaRPr lang="en-US" sz="5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Triplet Loss :</a:t>
            </a:r>
            <a:r>
              <a:rPr lang="en-US" dirty="0"/>
              <a:t> This loss function trains the model to minimize the distance between embeddings of the same person (anchor and positive) while maximizing the distance from a different person (negative), creating a well-separated embedding space.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685D07-2CA6-0B7E-129B-EEF1B4DBE2D2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 err="1"/>
              <a:t>FaceNet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25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04DC9E-89E0-89D4-F950-92BF9177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29F48229-3088-F101-EA2E-01CD58422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63A81173-B940-A427-2266-C4E7A9D26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9F59E-B3F6-38A9-DDFC-79E7A3221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pPr fontAlgn="base"/>
            <a:r>
              <a:rPr lang="en-US" sz="2000" b="1" dirty="0"/>
              <a:t>Data Preprocessing and Augmentation</a:t>
            </a:r>
          </a:p>
          <a:p>
            <a:pPr marL="0" indent="0" fontAlgn="base">
              <a:buNone/>
            </a:pPr>
            <a:endParaRPr lang="en-US" sz="20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Face Alignment :</a:t>
            </a:r>
            <a:r>
              <a:rPr lang="en-US" dirty="0"/>
              <a:t> Before passing images through the model, </a:t>
            </a:r>
            <a:r>
              <a:rPr lang="en-US" dirty="0" err="1"/>
              <a:t>FaceNet</a:t>
            </a:r>
            <a:r>
              <a:rPr lang="en-US" dirty="0"/>
              <a:t> typically aligns faces by detecting landmarks (e.g., eyes, nose, mouth) to ensure consistency.</a:t>
            </a:r>
          </a:p>
          <a:p>
            <a:pPr marL="0" indent="0" fontAlgn="base">
              <a:buNone/>
            </a:pPr>
            <a:endParaRPr lang="en-US" sz="5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Data Augmentation :</a:t>
            </a:r>
            <a:r>
              <a:rPr lang="en-US" dirty="0"/>
              <a:t> Variations in pose, lighting, and occlusions are introduced during training to improve the model’s robustness across diverse conditions.</a:t>
            </a:r>
          </a:p>
          <a:p>
            <a:pPr marL="0" indent="0" fontAlgn="base">
              <a:buNone/>
            </a:pPr>
            <a:endParaRPr lang="en-US" sz="500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Post-Processing :</a:t>
            </a:r>
            <a:r>
              <a:rPr lang="en-US" dirty="0"/>
              <a:t> After generating embeddings, </a:t>
            </a:r>
            <a:r>
              <a:rPr lang="en-US" dirty="0" err="1"/>
              <a:t>FaceNet</a:t>
            </a:r>
            <a:r>
              <a:rPr lang="en-US" dirty="0"/>
              <a:t> uses Euclidean distance to compare embeddings for face verification (same person or not). For face clustering, it groups similar embeddings using algorithms like k-means, effectively identifying and organizing faces into distinct clusters.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7CBE7D-1EB0-1563-827C-49D7A318E10C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 err="1"/>
              <a:t>FaceNet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702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7604BA-C661-E64A-1EF1-13131ED9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9D82E829-B1D1-0638-29EA-D6754E055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570B879C-6680-0A1A-E59F-A78B47F9D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4F82-3CFC-93EC-A155-0A76F9D0D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r>
              <a:rPr lang="en-US" dirty="0"/>
              <a:t>To enhance model robustness and improve recognition accuracy, several data augmentation techniques were applied using </a:t>
            </a:r>
            <a:r>
              <a:rPr lang="en-US" dirty="0" err="1"/>
              <a:t>Augmentor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Horizontal Flipping</a:t>
            </a:r>
            <a:r>
              <a:rPr lang="en-US" dirty="0"/>
              <a:t>: Creates mirrored images, allowing the model to recognize facial features from different orientations.</a:t>
            </a:r>
          </a:p>
          <a:p>
            <a:pPr marL="0" indent="0">
              <a:buNone/>
            </a:pPr>
            <a:endParaRPr 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Brightness Adjustment</a:t>
            </a:r>
            <a:r>
              <a:rPr lang="en-US" dirty="0"/>
              <a:t>: Simulates a range of lighting conditions, helping the model detect faces accurately even when lighting is inconsistent.</a:t>
            </a:r>
          </a:p>
          <a:p>
            <a:pPr marL="0" indent="0">
              <a:buNone/>
            </a:pPr>
            <a:endParaRPr 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Rotation</a:t>
            </a:r>
            <a:r>
              <a:rPr lang="en-US" dirty="0"/>
              <a:t>: Rotates images slightly to account for natural head tilts, improving the model's ability to recognize faces from varied angles.</a:t>
            </a:r>
          </a:p>
          <a:p>
            <a:pPr marL="0" indent="0">
              <a:buNone/>
            </a:pPr>
            <a:endParaRPr 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</a:t>
            </a:r>
            <a:r>
              <a:rPr lang="en-US" dirty="0"/>
              <a:t>: Adjusts image size, making the model capable of detecting faces at different distances and sizes in group photos.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E69C40-F044-8DC9-AE5F-41EA88F6DF62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Data </a:t>
            </a:r>
            <a:r>
              <a:rPr lang="en-US" sz="2400" b="1" dirty="0" err="1"/>
              <a:t>augementation</a:t>
            </a:r>
            <a:r>
              <a:rPr lang="en-US" sz="2400" b="1" dirty="0"/>
              <a:t> using </a:t>
            </a:r>
            <a:r>
              <a:rPr lang="en-US" sz="2400" b="1" dirty="0" err="1"/>
              <a:t>augmentor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42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Event Management</a:t>
            </a:r>
            <a:r>
              <a:rPr lang="en-US"/>
              <a:t>: Managing attendee presence in large events.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54FF8-5FCF-60DA-7078-D25946DD3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6368" y="1297552"/>
            <a:ext cx="6599582" cy="4836550"/>
          </a:xfrm>
        </p:spPr>
        <p:txBody>
          <a:bodyPr>
            <a:normAutofit/>
          </a:bodyPr>
          <a:lstStyle/>
          <a:p>
            <a:pPr marL="305435" indent="-305435"/>
            <a:r>
              <a:rPr lang="en-US" b="1" dirty="0">
                <a:solidFill>
                  <a:schemeClr val="bg1"/>
                </a:solidFill>
              </a:rPr>
              <a:t>Educational Institutions</a:t>
            </a:r>
            <a:r>
              <a:rPr lang="en-US" dirty="0">
                <a:solidFill>
                  <a:schemeClr val="bg1"/>
                </a:solidFill>
              </a:rPr>
              <a:t>: Automated attendance tracking in classrooms.</a:t>
            </a:r>
          </a:p>
          <a:p>
            <a:pPr marL="305435" indent="-305435"/>
            <a:endParaRPr lang="en-US" dirty="0">
              <a:solidFill>
                <a:schemeClr val="bg1"/>
              </a:solidFill>
            </a:endParaRPr>
          </a:p>
          <a:p>
            <a:pPr marL="305435" indent="-305435"/>
            <a:r>
              <a:rPr lang="en-US" b="1" dirty="0">
                <a:solidFill>
                  <a:schemeClr val="bg1"/>
                </a:solidFill>
              </a:rPr>
              <a:t>Security Systems</a:t>
            </a:r>
            <a:r>
              <a:rPr lang="en-US" dirty="0">
                <a:solidFill>
                  <a:schemeClr val="bg1"/>
                </a:solidFill>
              </a:rPr>
              <a:t>: Attendance verification for restricted access areas or events.</a:t>
            </a:r>
          </a:p>
          <a:p>
            <a:pPr marL="305435" indent="-305435"/>
            <a:endParaRPr lang="en-US" dirty="0">
              <a:solidFill>
                <a:schemeClr val="bg1"/>
              </a:solidFill>
            </a:endParaRPr>
          </a:p>
          <a:p>
            <a:pPr marL="305435" indent="-305435"/>
            <a:r>
              <a:rPr lang="en-US" b="1" dirty="0">
                <a:solidFill>
                  <a:schemeClr val="bg1"/>
                </a:solidFill>
              </a:rPr>
              <a:t>Corporate Settings</a:t>
            </a:r>
            <a:r>
              <a:rPr lang="en-US" dirty="0">
                <a:solidFill>
                  <a:schemeClr val="bg1"/>
                </a:solidFill>
              </a:rPr>
              <a:t>: Employee attendance and access control.</a:t>
            </a:r>
          </a:p>
          <a:p>
            <a:pPr marL="305435" indent="-305435"/>
            <a:endParaRPr lang="en-US" dirty="0">
              <a:solidFill>
                <a:schemeClr val="bg1"/>
              </a:solidFill>
            </a:endParaRPr>
          </a:p>
          <a:p>
            <a:pPr marL="305435" indent="-305435"/>
            <a:r>
              <a:rPr lang="en-US" b="1" dirty="0">
                <a:solidFill>
                  <a:schemeClr val="bg1"/>
                </a:solidFill>
              </a:rPr>
              <a:t>Event Management</a:t>
            </a:r>
            <a:r>
              <a:rPr lang="en-US" dirty="0">
                <a:solidFill>
                  <a:schemeClr val="bg1"/>
                </a:solidFill>
              </a:rPr>
              <a:t>: Managing attendee presence in large events.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BBB7F5-123F-AEE8-7EA4-8DB1F7A8A627}"/>
              </a:ext>
            </a:extLst>
          </p:cNvPr>
          <p:cNvSpPr txBox="1">
            <a:spLocks/>
          </p:cNvSpPr>
          <p:nvPr/>
        </p:nvSpPr>
        <p:spPr>
          <a:xfrm>
            <a:off x="446534" y="1206578"/>
            <a:ext cx="3633854" cy="4711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Applications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13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17227E-5BEF-D785-27D4-8E1E2C7B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02BC1FB8-81B9-CEE6-EB75-9B50E8A95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24315524-B93C-A984-FD78-924F2901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2823-44EF-913E-9EA4-1A20A2A3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r>
              <a:rPr lang="en-US" dirty="0"/>
              <a:t>The dataset initially contained 65 images, with only 23 labeled images collected. This limited amount of labeled data posed a challenge for achieving high model accuracy, as deep learning models generally require large and diverse datasets for effective training.</a:t>
            </a:r>
          </a:p>
          <a:p>
            <a:r>
              <a:rPr lang="en-US" dirty="0"/>
              <a:t>To address this, data augmentation techniques were applied to expand the dataset artificially. The augmentation methods included 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Horizontal Flipping </a:t>
            </a:r>
            <a:r>
              <a:rPr lang="en-US" dirty="0"/>
              <a:t>: To increase the variability of face orientations.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 </a:t>
            </a:r>
            <a:r>
              <a:rPr lang="en-US" dirty="0"/>
              <a:t>: To adapt the model to detect faces at different sizes and distances.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Brightness Adjustment </a:t>
            </a:r>
            <a:r>
              <a:rPr lang="en-US" dirty="0"/>
              <a:t>: To simulate different lighting conditions.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90F8EA-EB81-6511-B454-3095C1532B16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/>
              <a:t>Dataset Description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712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E7393B-6D45-2069-D9B5-AA5CC766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7">
            <a:extLst>
              <a:ext uri="{FF2B5EF4-FFF2-40B4-BE49-F238E27FC236}">
                <a16:creationId xmlns:a16="http://schemas.microsoft.com/office/drawing/2014/main" id="{6E6F11D4-5BF8-B5CB-F315-98521C88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F50CCE45-0099-8F20-0848-979AE3B6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B870DB-2D7D-D477-4075-04FD17228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D9E22E-DC52-9565-D8D1-87F31797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146275-27B7-38A8-3CAD-5D2439001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36193-D6E7-1506-665A-113E6F59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94" y="723898"/>
            <a:ext cx="3804883" cy="752390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Solution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1A72-53D8-6B2C-422A-6BFE372D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060" y="1033003"/>
            <a:ext cx="6108179" cy="5058689"/>
          </a:xfrm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Images are collected in group photos since it is not possible to capture each student's face individually.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MTCNN is used to detect and extract faces from the group photo.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Gaussian filters are applied to enhance image quality, improving recognition accuracy in low-resolution images.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extracted and enhanced face images are stored in a database, along with their labels (student IDs).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Image pre-processing and Data augmentation techniques (e.g., rotation, flipping) are applied to the images to increase the dataset size and improve model generalization.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17F7FD-4918-2B5B-729B-69B2C9C9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94" y="1647989"/>
            <a:ext cx="3924848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6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9F6B2C-5155-D534-BD16-5AEAE353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7">
            <a:extLst>
              <a:ext uri="{FF2B5EF4-FFF2-40B4-BE49-F238E27FC236}">
                <a16:creationId xmlns:a16="http://schemas.microsoft.com/office/drawing/2014/main" id="{A610E756-2E73-25A6-0E94-35D965FD9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0B029AB1-B538-6845-7850-01AFFA2F9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936190-A919-CFA2-E1A0-6036F6A1D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9DB12D-D877-68CC-10DE-CB6B7901B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6D68579-0D94-90A1-569A-E12916ED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481222-4CF9-30BD-FD3B-42DF35EF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060" y="1033003"/>
            <a:ext cx="6108179" cy="5058689"/>
          </a:xfrm>
        </p:spPr>
        <p:txBody>
          <a:bodyPr anchor="ctr">
            <a:no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FaceNet</a:t>
            </a:r>
            <a:r>
              <a:rPr lang="en-US" dirty="0">
                <a:solidFill>
                  <a:schemeClr val="bg1"/>
                </a:solidFill>
              </a:rPr>
              <a:t> generates embeddings for each face image. These embeddings are vector representations of the facial features, allowing for precise comparisons.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embeddings and their corresponding labels are stored in a database for easy retrieval during inference.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</a:endParaRPr>
          </a:p>
          <a:p>
            <a:pPr marL="305435" indent="-305435"/>
            <a:r>
              <a:rPr lang="en-US" dirty="0">
                <a:solidFill>
                  <a:schemeClr val="bg1"/>
                </a:solidFill>
              </a:rPr>
              <a:t>At inference, the system loads embeddings, detects faces with MTCNN,  generates embeddings using </a:t>
            </a:r>
            <a:r>
              <a:rPr lang="en-US" dirty="0" err="1">
                <a:solidFill>
                  <a:schemeClr val="bg1"/>
                </a:solidFill>
              </a:rPr>
              <a:t>FaceNet</a:t>
            </a:r>
            <a:r>
              <a:rPr lang="en-US" dirty="0">
                <a:solidFill>
                  <a:schemeClr val="bg1"/>
                </a:solidFill>
              </a:rPr>
              <a:t>, compares them with stored embeddings, and annotates the image. It then generates an Excel sheet with the roll numbers of present students.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5363D-B499-A49B-9EE1-206E23BCD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56" y="1393173"/>
            <a:ext cx="2547940" cy="530185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8CA6DA-DB76-6DC2-4BF1-048E33985941}"/>
              </a:ext>
            </a:extLst>
          </p:cNvPr>
          <p:cNvSpPr txBox="1">
            <a:spLocks/>
          </p:cNvSpPr>
          <p:nvPr/>
        </p:nvSpPr>
        <p:spPr>
          <a:xfrm>
            <a:off x="270994" y="723898"/>
            <a:ext cx="3804883" cy="75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>
                <a:solidFill>
                  <a:schemeClr val="accent1"/>
                </a:solidFill>
              </a:rPr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51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FD0365-7089-C8A8-D486-9B543AF0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47">
            <a:extLst>
              <a:ext uri="{FF2B5EF4-FFF2-40B4-BE49-F238E27FC236}">
                <a16:creationId xmlns:a16="http://schemas.microsoft.com/office/drawing/2014/main" id="{2F10350D-0800-D5AA-E352-FD2E98D93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9">
            <a:extLst>
              <a:ext uri="{FF2B5EF4-FFF2-40B4-BE49-F238E27FC236}">
                <a16:creationId xmlns:a16="http://schemas.microsoft.com/office/drawing/2014/main" id="{4C0DDB99-6DD9-00CB-7FDD-E7E997738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1E46ED-E42B-DBED-A2D9-78AF9225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0B90A7-AC72-7A0B-0112-30A5636E9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7DE7A44-AFD6-CB31-6E8D-28DEC9FF1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6FA534B-C11B-B6F1-4976-BD0451C77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339" y="1477295"/>
            <a:ext cx="6793993" cy="4170106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7444FF-B175-C77F-5BCC-7152FA0667D7}"/>
              </a:ext>
            </a:extLst>
          </p:cNvPr>
          <p:cNvSpPr txBox="1">
            <a:spLocks/>
          </p:cNvSpPr>
          <p:nvPr/>
        </p:nvSpPr>
        <p:spPr>
          <a:xfrm>
            <a:off x="317073" y="2952709"/>
            <a:ext cx="3804883" cy="752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54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FE5DD5-397F-F7B6-0035-A4D910C56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95001822-FDB8-D48D-C719-CF250CE8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5DFA28CC-0675-B6F4-F8D6-ECD9CBC89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A0573-93BE-B767-7D36-0505D19F4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b="1" dirty="0"/>
              <a:t>Dataset Creation :-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Group Photos Instead of Individual Faces</a:t>
            </a:r>
            <a:r>
              <a:rPr lang="en-US" sz="2000" dirty="0"/>
              <a:t>: Capturing individual face images was impractical,  so group photos were used, which led to difficulties in detecting and extracting multiple faces, especially when they were overlapping or at different angles.</a:t>
            </a:r>
          </a:p>
          <a:p>
            <a:endParaRPr lang="en-US" sz="2000" dirty="0"/>
          </a:p>
          <a:p>
            <a:r>
              <a:rPr lang="en-US" sz="2000" b="1" dirty="0"/>
              <a:t>Low-Resolution Faces</a:t>
            </a:r>
            <a:r>
              <a:rPr lang="en-US" sz="2000" dirty="0"/>
              <a:t>: Group photos often contained low-resolution faces, which made it harder to generate accurate face embeddings. Gaussian filters were applied to enhance the images, but the challenge remained.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6FC02B-413B-D612-5442-FCC3CBC94AA1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rgbClr val="FFFFFF"/>
                </a:solidFill>
              </a:rPr>
              <a:t>Challenges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489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406E4-CBA4-D21F-E548-969FE1D9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27D65-992D-D580-B29F-747EAF419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30237-7D26-F165-3B26-E1149D28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73231"/>
            <a:ext cx="3054091" cy="4711539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Results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33037E-80A4-0000-1EBE-41F52C9AE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59BB66-B3ED-E332-AE78-8F6B12D22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B4B1F-B598-1F59-98A5-A2FF66FC5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4BB77A-813D-F8D9-7326-870E56D2B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E7ECE6-AB87-8FFB-0D59-0389E1479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357525" y="1005840"/>
            <a:ext cx="7277265" cy="4093461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26D26C-5B52-B4B3-7DC0-0DDD9CEFE977}"/>
              </a:ext>
            </a:extLst>
          </p:cNvPr>
          <p:cNvSpPr txBox="1">
            <a:spLocks/>
          </p:cNvSpPr>
          <p:nvPr/>
        </p:nvSpPr>
        <p:spPr>
          <a:xfrm>
            <a:off x="4290328" y="5346372"/>
            <a:ext cx="7503637" cy="78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Without Augmentation </a:t>
            </a:r>
            <a:r>
              <a:rPr lang="en-US" sz="2000" dirty="0">
                <a:solidFill>
                  <a:schemeClr val="bg1"/>
                </a:solidFill>
              </a:rPr>
              <a:t>: The model correctly predicted 9/23 faces, showing limited accuracy due to lack of variability in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3406972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BCAE1F-3936-BFFA-F144-D35F0E82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D36750-FB3B-B219-C460-B30085878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1EE00-F295-4BD8-CB89-03E48D2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73231"/>
            <a:ext cx="3054091" cy="4711539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Results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A55E0-7039-4574-AB8C-F6127D3A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CCF0A6-3BDA-1EAD-ADA7-93502748A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7D4D24-F1CC-50D5-DE08-5244AFFF0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921B51-2EDD-5392-2F41-8A4831E65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9B4B30-C21B-E2FB-01AE-C88543D87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357525" y="1005840"/>
            <a:ext cx="7277265" cy="4093461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7DCF7-0A03-F3A1-7F62-EB697A5CA9BA}"/>
              </a:ext>
            </a:extLst>
          </p:cNvPr>
          <p:cNvSpPr txBox="1">
            <a:spLocks/>
          </p:cNvSpPr>
          <p:nvPr/>
        </p:nvSpPr>
        <p:spPr>
          <a:xfrm>
            <a:off x="4357524" y="5346372"/>
            <a:ext cx="7277265" cy="78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With Augmentation</a:t>
            </a:r>
            <a:r>
              <a:rPr lang="en-US" sz="2000" dirty="0">
                <a:solidFill>
                  <a:schemeClr val="bg1"/>
                </a:solidFill>
              </a:rPr>
              <a:t>: After applying data augmentation techniques, the model's accuracy improved, correctly predicting 14/23 faces. </a:t>
            </a:r>
          </a:p>
        </p:txBody>
      </p:sp>
    </p:spTree>
    <p:extLst>
      <p:ext uri="{BB962C8B-B14F-4D97-AF65-F5344CB8AC3E}">
        <p14:creationId xmlns:p14="http://schemas.microsoft.com/office/powerpoint/2010/main" val="693836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0DFD1-25A2-577B-E1EE-CAB6A974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73231"/>
            <a:ext cx="3054091" cy="4711539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Results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91F26A-DDD7-1467-50D9-C80368694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1157" y="1272538"/>
            <a:ext cx="7061979" cy="3972363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04AC2D0-87B5-56BC-4ECF-E38C5D122AB2}"/>
              </a:ext>
            </a:extLst>
          </p:cNvPr>
          <p:cNvSpPr txBox="1">
            <a:spLocks/>
          </p:cNvSpPr>
          <p:nvPr/>
        </p:nvSpPr>
        <p:spPr>
          <a:xfrm>
            <a:off x="4942069" y="5346372"/>
            <a:ext cx="6108179" cy="78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Threshold = 0.3</a:t>
            </a:r>
          </a:p>
        </p:txBody>
      </p:sp>
    </p:spTree>
    <p:extLst>
      <p:ext uri="{BB962C8B-B14F-4D97-AF65-F5344CB8AC3E}">
        <p14:creationId xmlns:p14="http://schemas.microsoft.com/office/powerpoint/2010/main" val="292360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9B7769-BB00-BD75-13C0-9B74384F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7DCEA1-A739-BBC6-BB46-070485162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74CF0-D29C-303C-AF59-7B58D21C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73231"/>
            <a:ext cx="3054091" cy="4711539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Results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E6607-BA6A-EBBB-A4EF-B49FA1372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A0CAF3-6861-881D-AE1A-A867CEEE5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F9E7F-2784-47CB-CF84-07564ABF5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756638-753E-352B-04CE-A1A178835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6FDC7A-E330-FF58-9C8A-61DB77935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11157" y="1272538"/>
            <a:ext cx="7061979" cy="3972363"/>
          </a:xfr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97E2FA-4DCC-611A-51B5-A7E10ECB557A}"/>
              </a:ext>
            </a:extLst>
          </p:cNvPr>
          <p:cNvSpPr txBox="1">
            <a:spLocks/>
          </p:cNvSpPr>
          <p:nvPr/>
        </p:nvSpPr>
        <p:spPr>
          <a:xfrm>
            <a:off x="4942069" y="5346372"/>
            <a:ext cx="6108179" cy="78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Threshold = 0.76 (More False </a:t>
            </a:r>
            <a:r>
              <a:rPr lang="en-US" sz="2000" b="1" dirty="0" err="1">
                <a:solidFill>
                  <a:schemeClr val="bg1"/>
                </a:solidFill>
              </a:rPr>
              <a:t>Detction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4913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445588-E721-1D3B-C9B4-69BA5D3E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8066AC4E-5381-F563-EBA6-A9ED17BEF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D5644C90-3DCC-2457-B9D0-6B90D1854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17E77-626F-031B-54E1-C91D4E7EE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269" y="485678"/>
            <a:ext cx="6108179" cy="5888771"/>
          </a:xfrm>
        </p:spPr>
        <p:txBody>
          <a:bodyPr anchor="ctr"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The Face Attendance Recognition System, using MTCNN for detection and </a:t>
            </a:r>
            <a:r>
              <a:rPr lang="en-US" sz="2000" dirty="0" err="1">
                <a:solidFill>
                  <a:schemeClr val="accent1"/>
                </a:solidFill>
              </a:rPr>
              <a:t>FaceNet</a:t>
            </a:r>
            <a:r>
              <a:rPr lang="en-US" sz="2000" dirty="0">
                <a:solidFill>
                  <a:schemeClr val="accent1"/>
                </a:solidFill>
              </a:rPr>
              <a:t> for embeddings, faced challenges with limited data. 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With only 23 labeled images, data augmentation (flipping, scaling, brightness) was applied to improve performance. Switching to MTCNN improved face detection, and </a:t>
            </a:r>
            <a:r>
              <a:rPr lang="en-US" sz="2000" dirty="0" err="1">
                <a:solidFill>
                  <a:schemeClr val="accent1"/>
                </a:solidFill>
              </a:rPr>
              <a:t>FaceNet</a:t>
            </a:r>
            <a:r>
              <a:rPr lang="en-US" sz="2000" dirty="0">
                <a:solidFill>
                  <a:schemeClr val="accent1"/>
                </a:solidFill>
              </a:rPr>
              <a:t> enhanced matching accuracy. 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After augmentation, correct predictions increased from 9 to 14, proving the effectiveness of data augmentation in boosting model performance for real-world attendance tracking.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58D0C61-4692-1444-A826-6129619FC73A}"/>
              </a:ext>
            </a:extLst>
          </p:cNvPr>
          <p:cNvSpPr txBox="1">
            <a:spLocks/>
          </p:cNvSpPr>
          <p:nvPr/>
        </p:nvSpPr>
        <p:spPr>
          <a:xfrm>
            <a:off x="943077" y="1144937"/>
            <a:ext cx="3269749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>
                <a:solidFill>
                  <a:srgbClr val="FFFFFF"/>
                </a:solidFill>
              </a:rPr>
              <a:t>conclusion</a:t>
            </a:r>
            <a:br>
              <a:rPr lang="en-US" sz="3200" b="1" dirty="0"/>
            </a:br>
            <a:endParaRPr lang="en-US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35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1AE1B-4DB8-8723-0C5E-015F2835DFCB}"/>
              </a:ext>
            </a:extLst>
          </p:cNvPr>
          <p:cNvSpPr txBox="1"/>
          <p:nvPr/>
        </p:nvSpPr>
        <p:spPr>
          <a:xfrm>
            <a:off x="2547029" y="2644170"/>
            <a:ext cx="709794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b="1" dirty="0">
                <a:solidFill>
                  <a:schemeClr val="accent1"/>
                </a:solidFill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301767807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1347</Words>
  <Application>Microsoft Office PowerPoint</Application>
  <PresentationFormat>Widescreen</PresentationFormat>
  <Paragraphs>122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Gill Sans MT</vt:lpstr>
      <vt:lpstr>Wingdings 2</vt:lpstr>
      <vt:lpstr>Dividend</vt:lpstr>
      <vt:lpstr>PowerPoint Presentation</vt:lpstr>
      <vt:lpstr>Introduction</vt:lpstr>
      <vt:lpstr>PowerPoint Presentation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PowerPoint Presentation</vt:lpstr>
      <vt:lpstr>PowerPoint Presentation</vt:lpstr>
      <vt:lpstr>Results</vt:lpstr>
      <vt:lpstr>Results</vt:lpstr>
      <vt:lpstr>Results</vt:lpstr>
      <vt:lpstr>Results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akshatjingar@outlook.com</dc:creator>
  <cp:lastModifiedBy>Akshat Jingar</cp:lastModifiedBy>
  <cp:revision>1091</cp:revision>
  <dcterms:created xsi:type="dcterms:W3CDTF">2022-08-07T14:55:23Z</dcterms:created>
  <dcterms:modified xsi:type="dcterms:W3CDTF">2025-05-02T07:45:47Z</dcterms:modified>
</cp:coreProperties>
</file>